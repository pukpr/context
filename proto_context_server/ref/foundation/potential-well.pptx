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997700" cy="9271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3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5025-461B-4B58-805E-EECC97E0094E}" type="datetimeFigureOut">
              <a:rPr lang="en-US" smtClean="0"/>
              <a:pPr/>
              <a:t>4/20/2012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FA42-3B8A-4482-AA73-0A4FB7435D4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5025-461B-4B58-805E-EECC97E0094E}" type="datetimeFigureOut">
              <a:rPr lang="en-US" smtClean="0"/>
              <a:pPr/>
              <a:t>4/20/2012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FA42-3B8A-4482-AA73-0A4FB7435D4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5025-461B-4B58-805E-EECC97E0094E}" type="datetimeFigureOut">
              <a:rPr lang="en-US" smtClean="0"/>
              <a:pPr/>
              <a:t>4/20/2012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FA42-3B8A-4482-AA73-0A4FB7435D4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5025-461B-4B58-805E-EECC97E0094E}" type="datetimeFigureOut">
              <a:rPr lang="en-US" smtClean="0"/>
              <a:pPr/>
              <a:t>4/20/2012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FA42-3B8A-4482-AA73-0A4FB7435D4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5025-461B-4B58-805E-EECC97E0094E}" type="datetimeFigureOut">
              <a:rPr lang="en-US" smtClean="0"/>
              <a:pPr/>
              <a:t>4/20/2012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FA42-3B8A-4482-AA73-0A4FB7435D4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5025-461B-4B58-805E-EECC97E0094E}" type="datetimeFigureOut">
              <a:rPr lang="en-US" smtClean="0"/>
              <a:pPr/>
              <a:t>4/20/2012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FA42-3B8A-4482-AA73-0A4FB7435D4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5025-461B-4B58-805E-EECC97E0094E}" type="datetimeFigureOut">
              <a:rPr lang="en-US" smtClean="0"/>
              <a:pPr/>
              <a:t>4/20/2012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FA42-3B8A-4482-AA73-0A4FB7435D4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5025-461B-4B58-805E-EECC97E0094E}" type="datetimeFigureOut">
              <a:rPr lang="en-US" smtClean="0"/>
              <a:pPr/>
              <a:t>4/20/2012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FA42-3B8A-4482-AA73-0A4FB7435D4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5025-461B-4B58-805E-EECC97E0094E}" type="datetimeFigureOut">
              <a:rPr lang="en-US" smtClean="0"/>
              <a:pPr/>
              <a:t>4/20/2012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FA42-3B8A-4482-AA73-0A4FB7435D4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5025-461B-4B58-805E-EECC97E0094E}" type="datetimeFigureOut">
              <a:rPr lang="en-US" smtClean="0"/>
              <a:pPr/>
              <a:t>4/20/2012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FA42-3B8A-4482-AA73-0A4FB7435D4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F5025-461B-4B58-805E-EECC97E0094E}" type="datetimeFigureOut">
              <a:rPr lang="en-US" smtClean="0"/>
              <a:pPr/>
              <a:t>4/20/2012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8EFA42-3B8A-4482-AA73-0A4FB7435D47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F5025-461B-4B58-805E-EECC97E0094E}" type="datetimeFigureOut">
              <a:rPr lang="en-US" smtClean="0"/>
              <a:pPr/>
              <a:t>4/20/2012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8EFA42-3B8A-4482-AA73-0A4FB7435D4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2286000" y="914400"/>
            <a:ext cx="1599067" cy="1985963"/>
            <a:chOff x="914400" y="604837"/>
            <a:chExt cx="1599067" cy="1985963"/>
          </a:xfrm>
        </p:grpSpPr>
        <p:sp>
          <p:nvSpPr>
            <p:cNvPr id="11" name="Rectangle 10"/>
            <p:cNvSpPr/>
            <p:nvPr/>
          </p:nvSpPr>
          <p:spPr>
            <a:xfrm>
              <a:off x="914400" y="1219200"/>
              <a:ext cx="1524000" cy="13716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Group 9"/>
            <p:cNvGrpSpPr/>
            <p:nvPr/>
          </p:nvGrpSpPr>
          <p:grpSpPr>
            <a:xfrm>
              <a:off x="914400" y="604837"/>
              <a:ext cx="1599067" cy="1928873"/>
              <a:chOff x="914400" y="604837"/>
              <a:chExt cx="1599067" cy="1928873"/>
            </a:xfrm>
          </p:grpSpPr>
          <p:sp>
            <p:nvSpPr>
              <p:cNvPr id="4" name="Arc 3"/>
              <p:cNvSpPr>
                <a:spLocks noChangeAspect="1"/>
              </p:cNvSpPr>
              <p:nvPr/>
            </p:nvSpPr>
            <p:spPr>
              <a:xfrm rot="8054321">
                <a:off x="1062037" y="604837"/>
                <a:ext cx="1451430" cy="1451430"/>
              </a:xfrm>
              <a:prstGeom prst="arc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TextBox 4"/>
              <p:cNvSpPr txBox="1"/>
              <p:nvPr/>
            </p:nvSpPr>
            <p:spPr>
              <a:xfrm>
                <a:off x="914400" y="1219200"/>
                <a:ext cx="453970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l-GR" sz="2000" dirty="0" smtClean="0">
                    <a:solidFill>
                      <a:schemeClr val="bg1"/>
                    </a:solidFill>
                    <a:latin typeface="Calibri"/>
                  </a:rPr>
                  <a:t>Δ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E</a:t>
                </a:r>
                <a:endParaRPr lang="en-US" sz="20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TextBox 5"/>
              <p:cNvSpPr txBox="1"/>
              <p:nvPr/>
            </p:nvSpPr>
            <p:spPr>
              <a:xfrm>
                <a:off x="1219200" y="2133600"/>
                <a:ext cx="117775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>
                    <a:solidFill>
                      <a:schemeClr val="bg1"/>
                    </a:solidFill>
                  </a:rPr>
                  <a:t>- </a:t>
                </a:r>
                <a:r>
                  <a:rPr lang="en-US" dirty="0" smtClean="0">
                    <a:solidFill>
                      <a:schemeClr val="bg1"/>
                    </a:solidFill>
                    <a:latin typeface="Calibri"/>
                  </a:rPr>
                  <a:t>← </a:t>
                </a:r>
                <a:r>
                  <a:rPr lang="en-US" sz="2000" dirty="0" smtClean="0">
                    <a:solidFill>
                      <a:schemeClr val="bg1"/>
                    </a:solidFill>
                  </a:rPr>
                  <a:t>T</a:t>
                </a:r>
                <a:r>
                  <a:rPr lang="en-US" sz="2000" baseline="-25000" dirty="0" smtClean="0">
                    <a:solidFill>
                      <a:schemeClr val="bg1"/>
                    </a:solidFill>
                  </a:rPr>
                  <a:t>q</a:t>
                </a:r>
                <a:r>
                  <a:rPr lang="en-US" baseline="-25000" dirty="0" smtClean="0">
                    <a:solidFill>
                      <a:schemeClr val="bg1"/>
                    </a:solidFill>
                  </a:rPr>
                  <a:t> </a:t>
                </a:r>
                <a:r>
                  <a:rPr lang="en-US" dirty="0" smtClean="0">
                    <a:solidFill>
                      <a:schemeClr val="bg1"/>
                    </a:solidFill>
                  </a:rPr>
                  <a:t>→ +</a:t>
                </a:r>
                <a:endParaRPr lang="en-US" baseline="-250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8" name="Straight Arrow Connector 7"/>
              <p:cNvCxnSpPr/>
              <p:nvPr/>
            </p:nvCxnSpPr>
            <p:spPr>
              <a:xfrm flipV="1">
                <a:off x="1143000" y="1600200"/>
                <a:ext cx="0" cy="457200"/>
              </a:xfrm>
              <a:prstGeom prst="straightConnector1">
                <a:avLst/>
              </a:prstGeom>
              <a:ln>
                <a:solidFill>
                  <a:schemeClr val="bg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" name="Straight Connector 12"/>
          <p:cNvCxnSpPr/>
          <p:nvPr/>
        </p:nvCxnSpPr>
        <p:spPr>
          <a:xfrm flipV="1">
            <a:off x="4572000" y="3429000"/>
            <a:ext cx="2743200" cy="1828800"/>
          </a:xfrm>
          <a:prstGeom prst="line">
            <a:avLst/>
          </a:prstGeom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H="1" flipV="1">
            <a:off x="1828800" y="3429000"/>
            <a:ext cx="2743200" cy="1828800"/>
          </a:xfrm>
          <a:prstGeom prst="line">
            <a:avLst/>
          </a:prstGeom>
          <a:ln w="254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486400" y="3810000"/>
            <a:ext cx="914400" cy="0"/>
          </a:xfrm>
          <a:prstGeom prst="straightConnector1">
            <a:avLst/>
          </a:prstGeom>
          <a:ln w="127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5943600" y="3962400"/>
            <a:ext cx="457200" cy="0"/>
          </a:xfrm>
          <a:prstGeom prst="straightConnector1">
            <a:avLst/>
          </a:prstGeom>
          <a:ln w="12700">
            <a:prstDash val="lgDash"/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2743200" y="3886200"/>
            <a:ext cx="914400" cy="0"/>
          </a:xfrm>
          <a:prstGeom prst="straightConnector1">
            <a:avLst/>
          </a:prstGeom>
          <a:ln w="12700"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4724400" y="4419600"/>
            <a:ext cx="914400" cy="0"/>
          </a:xfrm>
          <a:prstGeom prst="straightConnector1">
            <a:avLst/>
          </a:prstGeom>
          <a:ln w="12700"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2895600" y="4038600"/>
            <a:ext cx="457200" cy="0"/>
          </a:xfrm>
          <a:prstGeom prst="straightConnector1">
            <a:avLst/>
          </a:prstGeom>
          <a:ln w="12700">
            <a:prstDash val="lgDash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3429000" y="4419600"/>
            <a:ext cx="914400" cy="0"/>
          </a:xfrm>
          <a:prstGeom prst="straightConnector1">
            <a:avLst/>
          </a:prstGeom>
          <a:ln w="127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5257800" y="4572000"/>
            <a:ext cx="228600" cy="0"/>
          </a:xfrm>
          <a:prstGeom prst="straightConnector1">
            <a:avLst/>
          </a:prstGeom>
          <a:ln w="12700">
            <a:prstDash val="lgDash"/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3657600" y="4572000"/>
            <a:ext cx="228600" cy="0"/>
          </a:xfrm>
          <a:prstGeom prst="straightConnector1">
            <a:avLst/>
          </a:prstGeom>
          <a:ln w="12700">
            <a:prstDash val="lgDash"/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6553200" y="5257800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Z </a:t>
            </a:r>
            <a:r>
              <a:rPr lang="en-US" sz="2400" dirty="0" smtClean="0"/>
              <a:t>&gt; 0</a:t>
            </a:r>
            <a:endParaRPr lang="en-US" sz="2400" dirty="0"/>
          </a:p>
        </p:txBody>
      </p:sp>
      <p:sp>
        <p:nvSpPr>
          <p:cNvPr id="44" name="TextBox 43"/>
          <p:cNvSpPr txBox="1"/>
          <p:nvPr/>
        </p:nvSpPr>
        <p:spPr>
          <a:xfrm>
            <a:off x="1828800" y="5257800"/>
            <a:ext cx="7825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Z </a:t>
            </a:r>
            <a:r>
              <a:rPr lang="en-US" sz="2400" dirty="0" smtClean="0"/>
              <a:t>&lt; 0</a:t>
            </a:r>
            <a:endParaRPr lang="en-US" sz="2400" dirty="0"/>
          </a:p>
        </p:txBody>
      </p:sp>
      <p:sp>
        <p:nvSpPr>
          <p:cNvPr id="45" name="TextBox 44"/>
          <p:cNvSpPr txBox="1"/>
          <p:nvPr/>
        </p:nvSpPr>
        <p:spPr>
          <a:xfrm>
            <a:off x="5638800" y="3429000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</a:rPr>
              <a:t>(A)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29200" y="4038600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</a:rPr>
              <a:t>(B)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733800" y="4038600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</a:rPr>
              <a:t>(C)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71800" y="3505200"/>
            <a:ext cx="468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>
                <a:solidFill>
                  <a:srgbClr val="FF0000"/>
                </a:solidFill>
              </a:rPr>
              <a:t>(D)</a:t>
            </a:r>
            <a:endParaRPr lang="en-US" i="1" dirty="0">
              <a:solidFill>
                <a:srgbClr val="FF000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91000" y="5257800"/>
            <a:ext cx="858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err="1" smtClean="0"/>
              <a:t>Z</a:t>
            </a:r>
            <a:r>
              <a:rPr lang="en-US" sz="2400" baseline="-25000" dirty="0" err="1" smtClean="0"/>
              <a:t>q</a:t>
            </a:r>
            <a:r>
              <a:rPr lang="en-US" sz="2400" baseline="-25000" dirty="0" smtClean="0"/>
              <a:t> </a:t>
            </a:r>
            <a:r>
              <a:rPr lang="en-US" sz="2400" dirty="0" smtClean="0"/>
              <a:t>= 0</a:t>
            </a:r>
            <a:endParaRPr lang="en-US" sz="2400" dirty="0"/>
          </a:p>
        </p:txBody>
      </p:sp>
      <p:grpSp>
        <p:nvGrpSpPr>
          <p:cNvPr id="65" name="Group 64"/>
          <p:cNvGrpSpPr/>
          <p:nvPr/>
        </p:nvGrpSpPr>
        <p:grpSpPr>
          <a:xfrm>
            <a:off x="6172200" y="4267200"/>
            <a:ext cx="1412759" cy="954107"/>
            <a:chOff x="1981200" y="4267200"/>
            <a:chExt cx="1412759" cy="954107"/>
          </a:xfrm>
        </p:grpSpPr>
        <p:cxnSp>
          <p:nvCxnSpPr>
            <p:cNvPr id="55" name="Straight Arrow Connector 54"/>
            <p:cNvCxnSpPr/>
            <p:nvPr/>
          </p:nvCxnSpPr>
          <p:spPr>
            <a:xfrm flipV="1">
              <a:off x="1981200" y="4419600"/>
              <a:ext cx="0" cy="609600"/>
            </a:xfrm>
            <a:prstGeom prst="straightConnector1">
              <a:avLst/>
            </a:prstGeom>
            <a:ln w="31750">
              <a:solidFill>
                <a:schemeClr val="accent2">
                  <a:lumMod val="75000"/>
                </a:schemeClr>
              </a:solidFill>
              <a:headEnd type="none"/>
              <a:tailEnd type="triangle" w="lg" len="med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TextBox 56"/>
            <p:cNvSpPr txBox="1"/>
            <p:nvPr/>
          </p:nvSpPr>
          <p:spPr>
            <a:xfrm>
              <a:off x="1981200" y="4267200"/>
              <a:ext cx="141275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smtClean="0"/>
                <a:t>+</a:t>
              </a:r>
              <a:br>
                <a:rPr lang="en-US" sz="1400" dirty="0" smtClean="0"/>
              </a:br>
              <a:r>
                <a:rPr lang="en-US" sz="1400" dirty="0" smtClean="0"/>
                <a:t>Increasing drag</a:t>
              </a:r>
              <a:br>
                <a:rPr lang="en-US" sz="1400" dirty="0" smtClean="0"/>
              </a:br>
              <a:r>
                <a:rPr lang="en-US" sz="1400" dirty="0" smtClean="0"/>
                <a:t>away from origin</a:t>
              </a:r>
              <a:br>
                <a:rPr lang="en-US" sz="1400" dirty="0" smtClean="0"/>
              </a:br>
              <a:r>
                <a:rPr lang="en-US" sz="1400" dirty="0" smtClean="0"/>
                <a:t>-</a:t>
              </a:r>
              <a:endParaRPr lang="en-US" sz="1400" dirty="0"/>
            </a:p>
          </p:txBody>
        </p:sp>
      </p:grpSp>
      <p:cxnSp>
        <p:nvCxnSpPr>
          <p:cNvPr id="58" name="Straight Arrow Connector 57"/>
          <p:cNvCxnSpPr/>
          <p:nvPr/>
        </p:nvCxnSpPr>
        <p:spPr>
          <a:xfrm>
            <a:off x="4648200" y="1981200"/>
            <a:ext cx="914400" cy="0"/>
          </a:xfrm>
          <a:prstGeom prst="straightConnector1">
            <a:avLst/>
          </a:prstGeom>
          <a:ln w="1270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4876800" y="2667000"/>
            <a:ext cx="457200" cy="0"/>
          </a:xfrm>
          <a:prstGeom prst="straightConnector1">
            <a:avLst/>
          </a:prstGeom>
          <a:ln w="12700">
            <a:prstDash val="lgDash"/>
            <a:headEnd type="stealth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5544999" y="1752600"/>
            <a:ext cx="1531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 random walk hop</a:t>
            </a:r>
            <a:br>
              <a:rPr lang="en-US" sz="1400" dirty="0" smtClean="0"/>
            </a:br>
            <a:r>
              <a:rPr lang="en-US" sz="1400" dirty="0" smtClean="0"/>
              <a:t>(constant, no bias)</a:t>
            </a:r>
            <a:endParaRPr 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5332244" y="2438400"/>
            <a:ext cx="19690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 smtClean="0"/>
              <a:t> drag coefficient</a:t>
            </a:r>
            <a:br>
              <a:rPr lang="en-US" sz="1400" dirty="0" smtClean="0"/>
            </a:br>
            <a:r>
              <a:rPr lang="en-US" sz="1400" dirty="0" smtClean="0"/>
              <a:t>(varies, reverts to mean)</a:t>
            </a:r>
            <a:endParaRPr lang="en-US" sz="1400" dirty="0"/>
          </a:p>
        </p:txBody>
      </p:sp>
      <p:sp>
        <p:nvSpPr>
          <p:cNvPr id="62" name="TextBox 61"/>
          <p:cNvSpPr txBox="1"/>
          <p:nvPr/>
        </p:nvSpPr>
        <p:spPr>
          <a:xfrm>
            <a:off x="1981200" y="2971800"/>
            <a:ext cx="22288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 smtClean="0"/>
              <a:t>classic potential energy well</a:t>
            </a:r>
            <a:endParaRPr lang="en-US" sz="1400" i="1" dirty="0"/>
          </a:p>
        </p:txBody>
      </p:sp>
      <p:sp>
        <p:nvSpPr>
          <p:cNvPr id="63" name="TextBox 62"/>
          <p:cNvSpPr txBox="1"/>
          <p:nvPr/>
        </p:nvSpPr>
        <p:spPr>
          <a:xfrm>
            <a:off x="1905000" y="4343400"/>
            <a:ext cx="10967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i="1" dirty="0" smtClean="0"/>
              <a:t>proportional</a:t>
            </a:r>
            <a:br>
              <a:rPr lang="en-US" sz="1400" i="1" dirty="0" smtClean="0"/>
            </a:br>
            <a:r>
              <a:rPr lang="en-US" sz="1400" i="1" dirty="0" smtClean="0"/>
              <a:t>friction well </a:t>
            </a:r>
            <a:endParaRPr lang="en-US" sz="14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41</Words>
  <Application>Microsoft Office PowerPoint</Application>
  <PresentationFormat>On-screen Show (4:3)</PresentationFormat>
  <Paragraphs>14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>Customer Solutions BAE Systems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pukitepa</dc:creator>
  <cp:lastModifiedBy>pukitepa</cp:lastModifiedBy>
  <cp:revision>9</cp:revision>
  <cp:lastPrinted>2011-11-14T22:28:20Z</cp:lastPrinted>
  <dcterms:created xsi:type="dcterms:W3CDTF">2011-11-14T20:16:32Z</dcterms:created>
  <dcterms:modified xsi:type="dcterms:W3CDTF">2012-04-20T20:20:38Z</dcterms:modified>
</cp:coreProperties>
</file>