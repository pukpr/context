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6" d="100"/>
          <a:sy n="96" d="100"/>
        </p:scale>
        <p:origin x="-114" y="-137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FC0B43-9CF7-432D-8C55-FA1FB163DB26}" type="datetimeFigureOut">
              <a:rPr lang="en-US" smtClean="0"/>
              <a:pPr/>
              <a:t>4/24/2013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A93DAF-E12A-413E-92A3-9341461D623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DARPA asks for</a:t>
            </a:r>
            <a:r>
              <a:rPr lang="en-US" baseline="0" dirty="0" smtClean="0"/>
              <a:t> one great idea that we can glean from our work</a:t>
            </a:r>
          </a:p>
          <a:p>
            <a:endParaRPr lang="en-US" baseline="0" dirty="0" smtClean="0"/>
          </a:p>
          <a:p>
            <a:r>
              <a:rPr lang="en-US" baseline="0" dirty="0" smtClean="0"/>
              <a:t>From the proposal we had a bunch of novel elements that go into the one idea</a:t>
            </a:r>
          </a:p>
          <a:p>
            <a:pPr lvl="0"/>
            <a:r>
              <a:rPr lang="en-US" dirty="0"/>
              <a:t>-- The use of Probability Density Functions (PDF) to model sample spaces. These facilitate the characterization and modeling of natural phenomena that are prevalent in context modeling, including slope distribution, wind, rainfall, lakes, etc. Most of the models reduce to fairly simple analytical forms. For disordered systems and data containing uncertainty, techniques such as the Maximum Entropy Principle and </a:t>
            </a:r>
            <a:r>
              <a:rPr lang="en-US" dirty="0" err="1"/>
              <a:t>superstatistics</a:t>
            </a:r>
            <a:r>
              <a:rPr lang="en-US" dirty="0"/>
              <a:t> will be used, which have a more formal basis than the heuristic fractal models conventionally used. The sample size needed to reduce the variance of the statistics will be reduced by efficient applications of random sampling such as importance sampling. </a:t>
            </a:r>
          </a:p>
          <a:p>
            <a:pPr lvl="0"/>
            <a:endParaRPr lang="en-US" dirty="0"/>
          </a:p>
          <a:p>
            <a:pPr lvl="0">
              <a:buFontTx/>
              <a:buChar char="-"/>
            </a:pPr>
            <a:r>
              <a:rPr lang="en-US" dirty="0"/>
              <a:t>- The application of metrics to describe context models. In particular, the multiscale entropy measure can be applied to temporal and spatial scales covering a wide dynamic range. What this tells us is the amount of disorder and uncertainty in the data, which is important as a quick characterization metric. </a:t>
            </a:r>
          </a:p>
          <a:p>
            <a:pPr lvl="0">
              <a:buFontTx/>
              <a:buChar char="-"/>
            </a:pPr>
            <a:endParaRPr lang="en-US" dirty="0"/>
          </a:p>
          <a:p>
            <a:pPr>
              <a:buFontTx/>
              <a:buChar char="-"/>
            </a:pPr>
            <a:r>
              <a:rPr lang="en-US" dirty="0"/>
              <a:t>- Accounting for wear/tear/corrosion modeling. This would pull in particulate and ash models that feed into models for physical breakdown. Again, these models will often reduce to simple analytical forms. </a:t>
            </a:r>
          </a:p>
          <a:p>
            <a:pPr>
              <a:buFontTx/>
              <a:buChar char="-"/>
            </a:pPr>
            <a:endParaRPr lang="en-US" dirty="0"/>
          </a:p>
          <a:p>
            <a:r>
              <a:rPr lang="en-US" dirty="0"/>
              <a:t>-- Establishing and implementing an ontology-base for organizing models and techniques. Standardizing access protocols for context models.</a:t>
            </a:r>
          </a:p>
          <a:p>
            <a:endParaRPr lang="en-US" dirty="0"/>
          </a:p>
          <a:p>
            <a:r>
              <a:rPr lang="en-US" dirty="0"/>
              <a:t>-- Combining correlation functions with spectral representations to provide instances for the spatial and temporal domains of general system context.</a:t>
            </a:r>
          </a:p>
          <a:p>
            <a:endParaRPr lang="en-US" dirty="0"/>
          </a:p>
          <a:p>
            <a:r>
              <a:rPr lang="en-US" dirty="0"/>
              <a:t>-- Support for context modeling through internet-based data collection. This will provide means to leverage the vast amount of data available and reduce its dimensionality and scope by careful characterization and modeling. </a:t>
            </a:r>
          </a:p>
          <a:p>
            <a:endParaRPr lang="en-US" dirty="0" smtClean="0"/>
          </a:p>
          <a:p>
            <a:pPr marL="330556" indent="-330556" defTabSz="881482">
              <a:spcBef>
                <a:spcPct val="20000"/>
              </a:spcBef>
              <a:buFont typeface="Wingdings" pitchFamily="2" charset="2"/>
              <a:buChar char="q"/>
              <a:defRPr/>
            </a:pPr>
            <a:r>
              <a:rPr lang="en-US" dirty="0"/>
              <a:t>Surprising how often simple probability density functions (PDF) can characterize the impact/ likelihood factors for various environmental behaviors</a:t>
            </a:r>
          </a:p>
          <a:p>
            <a:pPr marL="330556" indent="-330556" defTabSz="881482">
              <a:spcBef>
                <a:spcPct val="20000"/>
              </a:spcBef>
              <a:buFont typeface="Wingdings" pitchFamily="2" charset="2"/>
              <a:buChar char="q"/>
              <a:defRPr/>
            </a:pPr>
            <a:r>
              <a:rPr lang="en-US" dirty="0"/>
              <a:t>Doesn’t always need a theory (heuristics) but an explanation is useful.</a:t>
            </a:r>
          </a:p>
          <a:p>
            <a:pPr marL="330556" indent="-330556" defTabSz="881482">
              <a:spcBef>
                <a:spcPct val="20000"/>
              </a:spcBef>
              <a:buFont typeface="Wingdings" pitchFamily="2" charset="2"/>
              <a:buChar char="q"/>
              <a:defRPr/>
            </a:pPr>
            <a:r>
              <a:rPr lang="en-US" dirty="0"/>
              <a:t>Use established scientific criteria and ontological methods to help us derive and classify the models.</a:t>
            </a:r>
          </a:p>
          <a:p>
            <a:endParaRPr lang="en-US" dirty="0"/>
          </a:p>
        </p:txBody>
      </p:sp>
      <p:sp>
        <p:nvSpPr>
          <p:cNvPr id="4" name="Slide Number Placeholder 3"/>
          <p:cNvSpPr>
            <a:spLocks noGrp="1"/>
          </p:cNvSpPr>
          <p:nvPr>
            <p:ph type="sldNum" sz="quarter" idx="10"/>
          </p:nvPr>
        </p:nvSpPr>
        <p:spPr/>
        <p:txBody>
          <a:bodyPr/>
          <a:lstStyle/>
          <a:p>
            <a:fld id="{3F08D094-05E9-451C-A44B-51E53434E8AA}"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369AC4-485A-4DF6-93F8-072BFBED7947}" type="datetimeFigureOut">
              <a:rPr lang="en-US" smtClean="0"/>
              <a:pPr/>
              <a:t>4/24/2013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369AC4-485A-4DF6-93F8-072BFBED7947}" type="datetimeFigureOut">
              <a:rPr lang="en-US" smtClean="0"/>
              <a:pPr/>
              <a:t>4/24/2013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369AC4-485A-4DF6-93F8-072BFBED7947}" type="datetimeFigureOut">
              <a:rPr lang="en-US" smtClean="0"/>
              <a:pPr/>
              <a:t>4/24/2013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369AC4-485A-4DF6-93F8-072BFBED7947}" type="datetimeFigureOut">
              <a:rPr lang="en-US" smtClean="0"/>
              <a:pPr/>
              <a:t>4/24/2013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369AC4-485A-4DF6-93F8-072BFBED7947}" type="datetimeFigureOut">
              <a:rPr lang="en-US" smtClean="0"/>
              <a:pPr/>
              <a:t>4/24/2013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1369AC4-485A-4DF6-93F8-072BFBED7947}" type="datetimeFigureOut">
              <a:rPr lang="en-US" smtClean="0"/>
              <a:pPr/>
              <a:t>4/24/2013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369AC4-485A-4DF6-93F8-072BFBED7947}" type="datetimeFigureOut">
              <a:rPr lang="en-US" smtClean="0"/>
              <a:pPr/>
              <a:t>4/24/2013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369AC4-485A-4DF6-93F8-072BFBED7947}" type="datetimeFigureOut">
              <a:rPr lang="en-US" smtClean="0"/>
              <a:pPr/>
              <a:t>4/24/2013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369AC4-485A-4DF6-93F8-072BFBED7947}" type="datetimeFigureOut">
              <a:rPr lang="en-US" smtClean="0"/>
              <a:pPr/>
              <a:t>4/24/2013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369AC4-485A-4DF6-93F8-072BFBED7947}" type="datetimeFigureOut">
              <a:rPr lang="en-US" smtClean="0"/>
              <a:pPr/>
              <a:t>4/24/2013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369AC4-485A-4DF6-93F8-072BFBED7947}" type="datetimeFigureOut">
              <a:rPr lang="en-US" smtClean="0"/>
              <a:pPr/>
              <a:t>4/24/2013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4CBC00-6E8A-42A0-9ED6-FD31B94A09D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369AC4-485A-4DF6-93F8-072BFBED7947}" type="datetimeFigureOut">
              <a:rPr lang="en-US" smtClean="0"/>
              <a:pPr/>
              <a:t>4/24/2013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CBC00-6E8A-42A0-9ED6-FD31B94A09D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a:stretch>
            <a:fillRect/>
          </a:stretch>
        </p:blipFill>
        <p:spPr bwMode="auto">
          <a:xfrm>
            <a:off x="782023" y="3611562"/>
            <a:ext cx="2420602" cy="2590800"/>
          </a:xfrm>
          <a:prstGeom prst="rect">
            <a:avLst/>
          </a:prstGeom>
          <a:noFill/>
          <a:ln w="9525">
            <a:noFill/>
            <a:miter lim="800000"/>
            <a:headEnd/>
            <a:tailEnd/>
          </a:ln>
        </p:spPr>
      </p:pic>
      <p:sp>
        <p:nvSpPr>
          <p:cNvPr id="18" name="Oval 17"/>
          <p:cNvSpPr/>
          <p:nvPr/>
        </p:nvSpPr>
        <p:spPr>
          <a:xfrm>
            <a:off x="228600" y="3230562"/>
            <a:ext cx="3429000" cy="3276600"/>
          </a:xfrm>
          <a:prstGeom prst="ellipse">
            <a:avLst/>
          </a:prstGeom>
          <a:no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1676400"/>
            <a:ext cx="8229600" cy="1066800"/>
          </a:xfrm>
        </p:spPr>
        <p:txBody>
          <a:bodyPr>
            <a:noAutofit/>
          </a:bodyPr>
          <a:lstStyle/>
          <a:p>
            <a:pPr>
              <a:buNone/>
            </a:pPr>
            <a:r>
              <a:rPr lang="en-US" sz="1800" dirty="0" smtClean="0"/>
              <a:t>Applying an </a:t>
            </a:r>
            <a:r>
              <a:rPr lang="en-US" sz="1800" i="1" dirty="0" smtClean="0"/>
              <a:t>ontological classification</a:t>
            </a:r>
            <a:r>
              <a:rPr lang="en-US" sz="1800" dirty="0" smtClean="0"/>
              <a:t> strategy to </a:t>
            </a:r>
            <a:r>
              <a:rPr lang="en-US" sz="1800" i="1" dirty="0" smtClean="0"/>
              <a:t>stochastic models </a:t>
            </a:r>
            <a:r>
              <a:rPr lang="en-US" sz="1800" dirty="0" smtClean="0"/>
              <a:t>of the environment </a:t>
            </a:r>
          </a:p>
          <a:p>
            <a:pPr lvl="1"/>
            <a:r>
              <a:rPr lang="en-US" sz="1800" dirty="0" smtClean="0"/>
              <a:t>Simple, efficient while comprehensive</a:t>
            </a:r>
          </a:p>
          <a:p>
            <a:pPr lvl="1"/>
            <a:r>
              <a:rPr lang="en-US" sz="1800" dirty="0" smtClean="0"/>
              <a:t>A workflow-driven semantic web provides services</a:t>
            </a:r>
          </a:p>
          <a:p>
            <a:pPr lvl="1">
              <a:buNone/>
            </a:pPr>
            <a:endParaRPr lang="en-US" sz="1800" dirty="0" smtClean="0"/>
          </a:p>
        </p:txBody>
      </p:sp>
      <p:sp>
        <p:nvSpPr>
          <p:cNvPr id="6" name="TextBox 5"/>
          <p:cNvSpPr txBox="1"/>
          <p:nvPr/>
        </p:nvSpPr>
        <p:spPr>
          <a:xfrm>
            <a:off x="990600" y="3124200"/>
            <a:ext cx="1905000" cy="369332"/>
          </a:xfrm>
          <a:prstGeom prst="rect">
            <a:avLst/>
          </a:prstGeom>
          <a:solidFill>
            <a:schemeClr val="bg1">
              <a:alpha val="93000"/>
            </a:schemeClr>
          </a:solidFill>
          <a:ln>
            <a:solidFill>
              <a:schemeClr val="tx2">
                <a:lumMod val="40000"/>
                <a:lumOff val="60000"/>
              </a:schemeClr>
            </a:solidFill>
          </a:ln>
        </p:spPr>
        <p:txBody>
          <a:bodyPr wrap="square" rtlCol="0">
            <a:spAutoFit/>
          </a:bodyPr>
          <a:lstStyle/>
          <a:p>
            <a:pPr algn="ctr"/>
            <a:r>
              <a:rPr lang="en-US" i="1" dirty="0" smtClean="0"/>
              <a:t>Ontology (SWEET)</a:t>
            </a:r>
            <a:endParaRPr lang="en-US" i="1" dirty="0"/>
          </a:p>
        </p:txBody>
      </p:sp>
      <p:sp>
        <p:nvSpPr>
          <p:cNvPr id="7" name="TextBox 6"/>
          <p:cNvSpPr txBox="1"/>
          <p:nvPr/>
        </p:nvSpPr>
        <p:spPr>
          <a:xfrm>
            <a:off x="3429000" y="5715000"/>
            <a:ext cx="2117631" cy="369332"/>
          </a:xfrm>
          <a:prstGeom prst="rect">
            <a:avLst/>
          </a:prstGeom>
          <a:noFill/>
          <a:ln>
            <a:noFill/>
          </a:ln>
          <a:effectLst/>
        </p:spPr>
        <p:txBody>
          <a:bodyPr wrap="none" rtlCol="0">
            <a:spAutoFit/>
          </a:bodyPr>
          <a:lstStyle/>
          <a:p>
            <a:r>
              <a:rPr lang="en-US" dirty="0" smtClean="0"/>
              <a:t>Fat-Tails and Fractals</a:t>
            </a:r>
          </a:p>
        </p:txBody>
      </p:sp>
      <p:sp>
        <p:nvSpPr>
          <p:cNvPr id="9" name="TextBox 8"/>
          <p:cNvSpPr txBox="1"/>
          <p:nvPr/>
        </p:nvSpPr>
        <p:spPr>
          <a:xfrm>
            <a:off x="3352800" y="3581400"/>
            <a:ext cx="2130007" cy="646331"/>
          </a:xfrm>
          <a:prstGeom prst="rect">
            <a:avLst/>
          </a:prstGeom>
          <a:noFill/>
          <a:ln>
            <a:noFill/>
          </a:ln>
          <a:effectLst/>
        </p:spPr>
        <p:txBody>
          <a:bodyPr wrap="none" rtlCol="0">
            <a:spAutoFit/>
          </a:bodyPr>
          <a:lstStyle/>
          <a:p>
            <a:r>
              <a:rPr lang="en-US" dirty="0" smtClean="0"/>
              <a:t>Probability Theory</a:t>
            </a:r>
          </a:p>
          <a:p>
            <a:pPr lvl="1">
              <a:buFont typeface="Arial" pitchFamily="34" charset="0"/>
              <a:buChar char="•"/>
            </a:pPr>
            <a:r>
              <a:rPr lang="en-US" dirty="0" smtClean="0"/>
              <a:t> </a:t>
            </a:r>
            <a:r>
              <a:rPr lang="en-US" sz="1400" dirty="0" smtClean="0"/>
              <a:t>Maximum Entropy</a:t>
            </a:r>
            <a:endParaRPr lang="en-US" sz="1400" dirty="0"/>
          </a:p>
        </p:txBody>
      </p:sp>
      <p:sp>
        <p:nvSpPr>
          <p:cNvPr id="10" name="TextBox 9"/>
          <p:cNvSpPr txBox="1"/>
          <p:nvPr/>
        </p:nvSpPr>
        <p:spPr>
          <a:xfrm>
            <a:off x="3733800" y="4355068"/>
            <a:ext cx="1944058" cy="369332"/>
          </a:xfrm>
          <a:prstGeom prst="rect">
            <a:avLst/>
          </a:prstGeom>
          <a:noFill/>
          <a:ln>
            <a:noFill/>
          </a:ln>
          <a:effectLst/>
        </p:spPr>
        <p:txBody>
          <a:bodyPr wrap="none" rtlCol="0">
            <a:spAutoFit/>
          </a:bodyPr>
          <a:lstStyle/>
          <a:p>
            <a:r>
              <a:rPr lang="en-US" dirty="0" smtClean="0"/>
              <a:t>Complexity Theory</a:t>
            </a:r>
            <a:endParaRPr lang="en-US" dirty="0"/>
          </a:p>
        </p:txBody>
      </p:sp>
      <p:sp>
        <p:nvSpPr>
          <p:cNvPr id="11" name="TextBox 10"/>
          <p:cNvSpPr txBox="1"/>
          <p:nvPr/>
        </p:nvSpPr>
        <p:spPr>
          <a:xfrm>
            <a:off x="3886200" y="4812268"/>
            <a:ext cx="1529971" cy="369332"/>
          </a:xfrm>
          <a:prstGeom prst="rect">
            <a:avLst/>
          </a:prstGeom>
          <a:noFill/>
          <a:ln>
            <a:noFill/>
          </a:ln>
          <a:effectLst/>
        </p:spPr>
        <p:txBody>
          <a:bodyPr wrap="none" rtlCol="0">
            <a:spAutoFit/>
          </a:bodyPr>
          <a:lstStyle/>
          <a:p>
            <a:r>
              <a:rPr lang="en-US" dirty="0" smtClean="0"/>
              <a:t>Superstatistics</a:t>
            </a:r>
            <a:endParaRPr lang="en-US" dirty="0"/>
          </a:p>
        </p:txBody>
      </p:sp>
      <p:sp>
        <p:nvSpPr>
          <p:cNvPr id="13" name="TextBox 12"/>
          <p:cNvSpPr txBox="1"/>
          <p:nvPr/>
        </p:nvSpPr>
        <p:spPr>
          <a:xfrm>
            <a:off x="3200400" y="6172200"/>
            <a:ext cx="1582036" cy="369332"/>
          </a:xfrm>
          <a:prstGeom prst="rect">
            <a:avLst/>
          </a:prstGeom>
          <a:noFill/>
          <a:ln>
            <a:noFill/>
          </a:ln>
          <a:effectLst/>
        </p:spPr>
        <p:txBody>
          <a:bodyPr wrap="none" rtlCol="0">
            <a:spAutoFit/>
          </a:bodyPr>
          <a:lstStyle/>
          <a:p>
            <a:r>
              <a:rPr lang="en-US" dirty="0" smtClean="0"/>
              <a:t>Pattern Theory</a:t>
            </a:r>
            <a:endParaRPr lang="en-US" dirty="0"/>
          </a:p>
        </p:txBody>
      </p:sp>
      <p:sp>
        <p:nvSpPr>
          <p:cNvPr id="17" name="TextBox 16"/>
          <p:cNvSpPr txBox="1"/>
          <p:nvPr/>
        </p:nvSpPr>
        <p:spPr>
          <a:xfrm>
            <a:off x="3048000" y="3048000"/>
            <a:ext cx="2485226" cy="400110"/>
          </a:xfrm>
          <a:prstGeom prst="rect">
            <a:avLst/>
          </a:prstGeom>
          <a:noFill/>
          <a:effectLst>
            <a:outerShdw blurRad="76200" dist="12700" dir="2700000" sy="-23000" kx="-800400" algn="bl" rotWithShape="0">
              <a:prstClr val="black">
                <a:alpha val="20000"/>
              </a:prstClr>
            </a:outerShdw>
          </a:effectLst>
        </p:spPr>
        <p:txBody>
          <a:bodyPr wrap="square" rtlCol="0">
            <a:spAutoFit/>
          </a:bodyPr>
          <a:lstStyle/>
          <a:p>
            <a:pPr algn="ctr"/>
            <a:r>
              <a:rPr lang="en-US" sz="2000" i="1" dirty="0" smtClean="0"/>
              <a:t>Stochastic Modeling</a:t>
            </a:r>
            <a:endParaRPr lang="en-US" sz="2000" i="1" dirty="0"/>
          </a:p>
        </p:txBody>
      </p:sp>
      <p:sp>
        <p:nvSpPr>
          <p:cNvPr id="19" name="TextBox 18"/>
          <p:cNvSpPr txBox="1"/>
          <p:nvPr/>
        </p:nvSpPr>
        <p:spPr>
          <a:xfrm>
            <a:off x="3632289" y="5269468"/>
            <a:ext cx="2006511" cy="369332"/>
          </a:xfrm>
          <a:prstGeom prst="rect">
            <a:avLst/>
          </a:prstGeom>
          <a:noFill/>
          <a:ln>
            <a:noFill/>
          </a:ln>
          <a:effectLst/>
        </p:spPr>
        <p:txBody>
          <a:bodyPr wrap="none" rtlCol="0">
            <a:spAutoFit/>
          </a:bodyPr>
          <a:lstStyle/>
          <a:p>
            <a:r>
              <a:rPr lang="en-US" dirty="0" smtClean="0"/>
              <a:t>Information Theory</a:t>
            </a:r>
            <a:endParaRPr lang="en-US" dirty="0"/>
          </a:p>
        </p:txBody>
      </p:sp>
      <p:cxnSp>
        <p:nvCxnSpPr>
          <p:cNvPr id="21" name="Straight Connector 20"/>
          <p:cNvCxnSpPr/>
          <p:nvPr/>
        </p:nvCxnSpPr>
        <p:spPr>
          <a:xfrm>
            <a:off x="3276600" y="3505200"/>
            <a:ext cx="2057400" cy="0"/>
          </a:xfrm>
          <a:prstGeom prst="line">
            <a:avLst/>
          </a:prstGeom>
          <a:ln w="19050">
            <a:headEnd type="stealth"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5105400" y="6324600"/>
            <a:ext cx="914400" cy="2104"/>
          </a:xfrm>
          <a:prstGeom prst="line">
            <a:avLst/>
          </a:prstGeom>
          <a:ln w="19050">
            <a:headEnd type="stealth"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096000" y="6137830"/>
            <a:ext cx="2603277" cy="369332"/>
          </a:xfrm>
          <a:prstGeom prst="rect">
            <a:avLst/>
          </a:prstGeom>
          <a:noFill/>
          <a:ln>
            <a:noFill/>
          </a:ln>
          <a:effectLst/>
        </p:spPr>
        <p:txBody>
          <a:bodyPr wrap="none" rtlCol="0">
            <a:spAutoFit/>
          </a:bodyPr>
          <a:lstStyle/>
          <a:p>
            <a:r>
              <a:rPr lang="en-US" dirty="0" smtClean="0"/>
              <a:t>Probability of Correctness</a:t>
            </a:r>
            <a:endParaRPr lang="en-US" dirty="0"/>
          </a:p>
        </p:txBody>
      </p:sp>
      <p:sp>
        <p:nvSpPr>
          <p:cNvPr id="31" name="TextBox 30"/>
          <p:cNvSpPr txBox="1"/>
          <p:nvPr/>
        </p:nvSpPr>
        <p:spPr>
          <a:xfrm>
            <a:off x="5132067" y="5943600"/>
            <a:ext cx="850939" cy="738664"/>
          </a:xfrm>
          <a:prstGeom prst="rect">
            <a:avLst/>
          </a:prstGeom>
          <a:noFill/>
          <a:ln>
            <a:noFill/>
          </a:ln>
          <a:effectLst/>
        </p:spPr>
        <p:txBody>
          <a:bodyPr wrap="none" rtlCol="0">
            <a:spAutoFit/>
          </a:bodyPr>
          <a:lstStyle/>
          <a:p>
            <a:pPr algn="ctr">
              <a:lnSpc>
                <a:spcPct val="150000"/>
              </a:lnSpc>
            </a:pPr>
            <a:r>
              <a:rPr lang="en-US" sz="1400" i="1" dirty="0" smtClean="0"/>
              <a:t>apply</a:t>
            </a:r>
          </a:p>
          <a:p>
            <a:pPr algn="ctr">
              <a:lnSpc>
                <a:spcPct val="150000"/>
              </a:lnSpc>
            </a:pPr>
            <a:r>
              <a:rPr lang="en-US" sz="1400" i="1" dirty="0" smtClean="0"/>
              <a:t>to design</a:t>
            </a:r>
            <a:endParaRPr lang="en-US" sz="1400" i="1" dirty="0"/>
          </a:p>
        </p:txBody>
      </p:sp>
      <p:pic>
        <p:nvPicPr>
          <p:cNvPr id="3074" name="Picture 2" descr="http://farm3.staticflickr.com/2664/3762921703_24408c950e_z.jpg?zz=1"/>
          <p:cNvPicPr>
            <a:picLocks noChangeAspect="1" noChangeArrowheads="1"/>
          </p:cNvPicPr>
          <p:nvPr/>
        </p:nvPicPr>
        <p:blipFill>
          <a:blip r:embed="rId4" cstate="print"/>
          <a:srcRect/>
          <a:stretch>
            <a:fillRect/>
          </a:stretch>
        </p:blipFill>
        <p:spPr bwMode="auto">
          <a:xfrm>
            <a:off x="5867400" y="3810000"/>
            <a:ext cx="2743200" cy="2057400"/>
          </a:xfrm>
          <a:prstGeom prst="rect">
            <a:avLst/>
          </a:prstGeom>
          <a:noFill/>
          <a:effectLst>
            <a:outerShdw blurRad="50800" dist="38100" dir="2700000" sx="101000" sy="101000" algn="tl" rotWithShape="0">
              <a:prstClr val="black">
                <a:alpha val="40000"/>
              </a:prstClr>
            </a:outerShdw>
          </a:effectLst>
        </p:spPr>
      </p:pic>
      <p:sp>
        <p:nvSpPr>
          <p:cNvPr id="26" name="TextBox 25"/>
          <p:cNvSpPr txBox="1"/>
          <p:nvPr/>
        </p:nvSpPr>
        <p:spPr>
          <a:xfrm>
            <a:off x="5602190" y="3087469"/>
            <a:ext cx="3241337" cy="646331"/>
          </a:xfrm>
          <a:prstGeom prst="rect">
            <a:avLst/>
          </a:prstGeom>
          <a:noFill/>
          <a:effectLst/>
        </p:spPr>
        <p:txBody>
          <a:bodyPr wrap="none" rtlCol="0">
            <a:spAutoFit/>
          </a:bodyPr>
          <a:lstStyle/>
          <a:p>
            <a:pPr algn="ctr"/>
            <a:r>
              <a:rPr lang="en-US" i="1" dirty="0" smtClean="0"/>
              <a:t>Features of the land, sea and sky</a:t>
            </a:r>
          </a:p>
          <a:p>
            <a:pPr algn="ctr"/>
            <a:r>
              <a:rPr lang="en-US" i="1" dirty="0" smtClean="0"/>
              <a:t>influencing virtual designs</a:t>
            </a:r>
            <a:endParaRPr lang="en-US"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974</TotalTime>
  <Words>418</Words>
  <Application>Microsoft Office PowerPoint</Application>
  <PresentationFormat>On-screen Show (4:3)</PresentationFormat>
  <Paragraphs>36</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Customer Solutions BAE Systems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pukitepa</dc:creator>
  <cp:lastModifiedBy>pukitepa</cp:lastModifiedBy>
  <cp:revision>7</cp:revision>
  <dcterms:created xsi:type="dcterms:W3CDTF">2013-02-04T15:46:45Z</dcterms:created>
  <dcterms:modified xsi:type="dcterms:W3CDTF">2013-04-24T23:16:05Z</dcterms:modified>
</cp:coreProperties>
</file>